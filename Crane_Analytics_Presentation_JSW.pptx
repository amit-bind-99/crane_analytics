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notesMasterIdLst>
    <p:notesMasterId r:id="rId15"/>
  </p:notesMasterIdLst>
  <p:handoutMasterIdLst>
    <p:handoutMasterId r:id="rId16"/>
  </p:handoutMasterIdLst>
  <p:sldIdLst>
    <p:sldId id="1123" r:id="rId2"/>
    <p:sldId id="1124" r:id="rId3"/>
    <p:sldId id="1125" r:id="rId4"/>
    <p:sldId id="1126" r:id="rId5"/>
    <p:sldId id="1127" r:id="rId6"/>
    <p:sldId id="1128" r:id="rId7"/>
    <p:sldId id="1129" r:id="rId8"/>
    <p:sldId id="1130" r:id="rId9"/>
    <p:sldId id="1131" r:id="rId10"/>
    <p:sldId id="1132" r:id="rId11"/>
    <p:sldId id="1133" r:id="rId12"/>
    <p:sldId id="1134" r:id="rId13"/>
    <p:sldId id="1122" r:id="rId14"/>
  </p:sldIdLst>
  <p:sldSz cx="12192000" cy="6858000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E2EFDA"/>
    <a:srgbClr val="556B2F"/>
    <a:srgbClr val="702E52"/>
    <a:srgbClr val="C6D8FF"/>
    <a:srgbClr val="006600"/>
    <a:srgbClr val="E9A027"/>
    <a:srgbClr val="E690A8"/>
    <a:srgbClr val="1A4E66"/>
    <a:srgbClr val="868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4343" autoAdjust="0"/>
  </p:normalViewPr>
  <p:slideViewPr>
    <p:cSldViewPr snapToGrid="0">
      <p:cViewPr varScale="1">
        <p:scale>
          <a:sx n="78" d="100"/>
          <a:sy n="78" d="100"/>
        </p:scale>
        <p:origin x="907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" y="2"/>
            <a:ext cx="2946246" cy="494031"/>
          </a:xfrm>
          <a:prstGeom prst="rect">
            <a:avLst/>
          </a:prstGeom>
        </p:spPr>
        <p:txBody>
          <a:bodyPr vert="horz" lIns="91154" tIns="45577" rIns="91154" bIns="4557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27" y="2"/>
            <a:ext cx="2946246" cy="494031"/>
          </a:xfrm>
          <a:prstGeom prst="rect">
            <a:avLst/>
          </a:prstGeom>
        </p:spPr>
        <p:txBody>
          <a:bodyPr vert="horz" lIns="91154" tIns="45577" rIns="91154" bIns="45577" rtlCol="0"/>
          <a:lstStyle>
            <a:lvl1pPr algn="r">
              <a:defRPr sz="1200"/>
            </a:lvl1pPr>
          </a:lstStyle>
          <a:p>
            <a:fld id="{1F652065-9B2C-47AC-802A-53B1669204F1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" y="9377053"/>
            <a:ext cx="2946246" cy="494031"/>
          </a:xfrm>
          <a:prstGeom prst="rect">
            <a:avLst/>
          </a:prstGeom>
        </p:spPr>
        <p:txBody>
          <a:bodyPr vert="horz" lIns="91154" tIns="45577" rIns="91154" bIns="4557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27" y="9377053"/>
            <a:ext cx="2946246" cy="494031"/>
          </a:xfrm>
          <a:prstGeom prst="rect">
            <a:avLst/>
          </a:prstGeom>
        </p:spPr>
        <p:txBody>
          <a:bodyPr vert="horz" lIns="91154" tIns="45577" rIns="91154" bIns="45577" rtlCol="0" anchor="b"/>
          <a:lstStyle>
            <a:lvl1pPr algn="r">
              <a:defRPr sz="1200"/>
            </a:lvl1pPr>
          </a:lstStyle>
          <a:p>
            <a:fld id="{28C80054-843E-49CA-97A0-CEB550DAF8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652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" y="21"/>
            <a:ext cx="2946246" cy="495617"/>
          </a:xfrm>
          <a:prstGeom prst="rect">
            <a:avLst/>
          </a:prstGeom>
        </p:spPr>
        <p:txBody>
          <a:bodyPr vert="horz" lIns="91154" tIns="45577" rIns="91154" bIns="4557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27" y="21"/>
            <a:ext cx="2946246" cy="495617"/>
          </a:xfrm>
          <a:prstGeom prst="rect">
            <a:avLst/>
          </a:prstGeom>
        </p:spPr>
        <p:txBody>
          <a:bodyPr vert="horz" lIns="91154" tIns="45577" rIns="91154" bIns="45577" rtlCol="0"/>
          <a:lstStyle>
            <a:lvl1pPr algn="r">
              <a:defRPr sz="1200"/>
            </a:lvl1pPr>
          </a:lstStyle>
          <a:p>
            <a:fld id="{36F0AD2D-B2C5-4EDE-9D2B-756D97991112}" type="datetimeFigureOut">
              <a:rPr lang="en-US" smtClean="0"/>
              <a:pPr/>
              <a:t>6/20/2026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4" tIns="45577" rIns="91154" bIns="4557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51289"/>
            <a:ext cx="5439102" cy="3887112"/>
          </a:xfrm>
          <a:prstGeom prst="rect">
            <a:avLst/>
          </a:prstGeom>
        </p:spPr>
        <p:txBody>
          <a:bodyPr vert="horz" lIns="91154" tIns="45577" rIns="91154" bIns="4557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" y="9377057"/>
            <a:ext cx="2946246" cy="495617"/>
          </a:xfrm>
          <a:prstGeom prst="rect">
            <a:avLst/>
          </a:prstGeom>
        </p:spPr>
        <p:txBody>
          <a:bodyPr vert="horz" lIns="91154" tIns="45577" rIns="91154" bIns="4557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27" y="9377057"/>
            <a:ext cx="2946246" cy="495617"/>
          </a:xfrm>
          <a:prstGeom prst="rect">
            <a:avLst/>
          </a:prstGeom>
        </p:spPr>
        <p:txBody>
          <a:bodyPr vert="horz" lIns="91154" tIns="45577" rIns="91154" bIns="45577" rtlCol="0" anchor="b"/>
          <a:lstStyle>
            <a:lvl1pPr algn="r">
              <a:defRPr sz="1200"/>
            </a:lvl1pPr>
          </a:lstStyle>
          <a:p>
            <a:fld id="{03DFE03D-A0FD-411F-A0CC-140E0150D8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64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4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24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220" y="366606"/>
            <a:ext cx="10972800" cy="671293"/>
          </a:xfrm>
          <a:prstGeom prst="rect">
            <a:avLst/>
          </a:prstGeom>
        </p:spPr>
        <p:txBody>
          <a:bodyPr anchor="ctr" anchorCtr="0"/>
          <a:lstStyle>
            <a:lvl1pPr algn="l">
              <a:defRPr sz="3333" b="1">
                <a:solidFill>
                  <a:srgbClr val="17479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505903"/>
            <a:ext cx="2844800" cy="365125"/>
          </a:xfrm>
        </p:spPr>
        <p:txBody>
          <a:bodyPr/>
          <a:lstStyle>
            <a:lvl1pPr algn="ctr">
              <a:defRPr sz="1333">
                <a:solidFill>
                  <a:schemeClr val="tx1"/>
                </a:solidFill>
              </a:defRPr>
            </a:lvl1pPr>
          </a:lstStyle>
          <a:p>
            <a:pPr defTabSz="544237"/>
            <a:fld id="{AD8096B3-FB60-2643-90FA-73CCED584954}" type="slidenum">
              <a:rPr lang="en-US" smtClean="0">
                <a:solidFill>
                  <a:prstClr val="black"/>
                </a:solidFill>
              </a:rPr>
              <a:pPr defTabSz="544237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639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7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17">
                <a:solidFill>
                  <a:schemeClr val="tx1">
                    <a:tint val="75000"/>
                  </a:schemeClr>
                </a:solidFill>
              </a:defRPr>
            </a:lvl1pPr>
            <a:lvl2pPr marL="544237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73" indent="0">
              <a:buNone/>
              <a:defRPr sz="1917">
                <a:solidFill>
                  <a:schemeClr val="tx1">
                    <a:tint val="75000"/>
                  </a:schemeClr>
                </a:solidFill>
              </a:defRPr>
            </a:lvl3pPr>
            <a:lvl4pPr marL="1632711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4pPr>
            <a:lvl5pPr marL="217694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5pPr>
            <a:lvl6pPr marL="272118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6pPr>
            <a:lvl7pPr marL="326542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7pPr>
            <a:lvl8pPr marL="380965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8pPr>
            <a:lvl9pPr marL="435389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93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5785" y="1920875"/>
            <a:ext cx="8676216" cy="5430838"/>
          </a:xfrm>
          <a:prstGeom prst="rect">
            <a:avLst/>
          </a:prstGeom>
        </p:spPr>
        <p:txBody>
          <a:bodyPr/>
          <a:lstStyle>
            <a:lvl1pPr>
              <a:defRPr sz="3333"/>
            </a:lvl1pPr>
            <a:lvl2pPr>
              <a:defRPr sz="2833"/>
            </a:lvl2pPr>
            <a:lvl3pPr>
              <a:defRPr sz="2417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55201" y="1920875"/>
            <a:ext cx="8676218" cy="5430838"/>
          </a:xfrm>
          <a:prstGeom prst="rect">
            <a:avLst/>
          </a:prstGeom>
        </p:spPr>
        <p:txBody>
          <a:bodyPr/>
          <a:lstStyle>
            <a:lvl1pPr>
              <a:defRPr sz="3333"/>
            </a:lvl1pPr>
            <a:lvl2pPr>
              <a:defRPr sz="2833"/>
            </a:lvl2pPr>
            <a:lvl3pPr>
              <a:defRPr sz="2417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706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33" b="1"/>
            </a:lvl1pPr>
            <a:lvl2pPr marL="544237" indent="0">
              <a:buNone/>
              <a:defRPr sz="2417" b="1"/>
            </a:lvl2pPr>
            <a:lvl3pPr marL="1088473" indent="0">
              <a:buNone/>
              <a:defRPr sz="2167" b="1"/>
            </a:lvl3pPr>
            <a:lvl4pPr marL="1632711" indent="0">
              <a:buNone/>
              <a:defRPr sz="1917" b="1"/>
            </a:lvl4pPr>
            <a:lvl5pPr marL="2176947" indent="0">
              <a:buNone/>
              <a:defRPr sz="1917" b="1"/>
            </a:lvl5pPr>
            <a:lvl6pPr marL="2721184" indent="0">
              <a:buNone/>
              <a:defRPr sz="1917" b="1"/>
            </a:lvl6pPr>
            <a:lvl7pPr marL="3265420" indent="0">
              <a:buNone/>
              <a:defRPr sz="1917" b="1"/>
            </a:lvl7pPr>
            <a:lvl8pPr marL="3809657" indent="0">
              <a:buNone/>
              <a:defRPr sz="1917" b="1"/>
            </a:lvl8pPr>
            <a:lvl9pPr marL="4353894" indent="0">
              <a:buNone/>
              <a:defRPr sz="19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8" cy="3951288"/>
          </a:xfrm>
          <a:prstGeom prst="rect">
            <a:avLst/>
          </a:prstGeom>
        </p:spPr>
        <p:txBody>
          <a:bodyPr/>
          <a:lstStyle>
            <a:lvl1pPr>
              <a:defRPr sz="2833"/>
            </a:lvl1pPr>
            <a:lvl2pPr>
              <a:defRPr sz="2417"/>
            </a:lvl2pPr>
            <a:lvl3pPr>
              <a:defRPr sz="2167"/>
            </a:lvl3pPr>
            <a:lvl4pPr>
              <a:defRPr sz="1917"/>
            </a:lvl4pPr>
            <a:lvl5pPr>
              <a:defRPr sz="1917"/>
            </a:lvl5pPr>
            <a:lvl6pPr>
              <a:defRPr sz="1917"/>
            </a:lvl6pPr>
            <a:lvl7pPr>
              <a:defRPr sz="1917"/>
            </a:lvl7pPr>
            <a:lvl8pPr>
              <a:defRPr sz="1917"/>
            </a:lvl8pPr>
            <a:lvl9pPr>
              <a:defRPr sz="19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33" b="1"/>
            </a:lvl1pPr>
            <a:lvl2pPr marL="544237" indent="0">
              <a:buNone/>
              <a:defRPr sz="2417" b="1"/>
            </a:lvl2pPr>
            <a:lvl3pPr marL="1088473" indent="0">
              <a:buNone/>
              <a:defRPr sz="2167" b="1"/>
            </a:lvl3pPr>
            <a:lvl4pPr marL="1632711" indent="0">
              <a:buNone/>
              <a:defRPr sz="1917" b="1"/>
            </a:lvl4pPr>
            <a:lvl5pPr marL="2176947" indent="0">
              <a:buNone/>
              <a:defRPr sz="1917" b="1"/>
            </a:lvl5pPr>
            <a:lvl6pPr marL="2721184" indent="0">
              <a:buNone/>
              <a:defRPr sz="1917" b="1"/>
            </a:lvl6pPr>
            <a:lvl7pPr marL="3265420" indent="0">
              <a:buNone/>
              <a:defRPr sz="1917" b="1"/>
            </a:lvl7pPr>
            <a:lvl8pPr marL="3809657" indent="0">
              <a:buNone/>
              <a:defRPr sz="1917" b="1"/>
            </a:lvl8pPr>
            <a:lvl9pPr marL="4353894" indent="0">
              <a:buNone/>
              <a:defRPr sz="19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833"/>
            </a:lvl1pPr>
            <a:lvl2pPr>
              <a:defRPr sz="2417"/>
            </a:lvl2pPr>
            <a:lvl3pPr>
              <a:defRPr sz="2167"/>
            </a:lvl3pPr>
            <a:lvl4pPr>
              <a:defRPr sz="1917"/>
            </a:lvl4pPr>
            <a:lvl5pPr>
              <a:defRPr sz="1917"/>
            </a:lvl5pPr>
            <a:lvl6pPr>
              <a:defRPr sz="1917"/>
            </a:lvl6pPr>
            <a:lvl7pPr>
              <a:defRPr sz="1917"/>
            </a:lvl7pPr>
            <a:lvl8pPr>
              <a:defRPr sz="1917"/>
            </a:lvl8pPr>
            <a:lvl9pPr>
              <a:defRPr sz="19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691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752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163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41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833"/>
            </a:lvl1pPr>
            <a:lvl2pPr>
              <a:defRPr sz="3333"/>
            </a:lvl2pPr>
            <a:lvl3pPr>
              <a:defRPr sz="2833"/>
            </a:lvl3pPr>
            <a:lvl4pPr>
              <a:defRPr sz="2417"/>
            </a:lvl4pPr>
            <a:lvl5pPr>
              <a:defRPr sz="2417"/>
            </a:lvl5pPr>
            <a:lvl6pPr>
              <a:defRPr sz="2417"/>
            </a:lvl6pPr>
            <a:lvl7pPr>
              <a:defRPr sz="2417"/>
            </a:lvl7pPr>
            <a:lvl8pPr>
              <a:defRPr sz="2417"/>
            </a:lvl8pPr>
            <a:lvl9pPr>
              <a:defRPr sz="24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67"/>
            </a:lvl1pPr>
            <a:lvl2pPr marL="544237" indent="0">
              <a:buNone/>
              <a:defRPr sz="1417"/>
            </a:lvl2pPr>
            <a:lvl3pPr marL="1088473" indent="0">
              <a:buNone/>
              <a:defRPr sz="1167"/>
            </a:lvl3pPr>
            <a:lvl4pPr marL="1632711" indent="0">
              <a:buNone/>
              <a:defRPr sz="1083"/>
            </a:lvl4pPr>
            <a:lvl5pPr marL="2176947" indent="0">
              <a:buNone/>
              <a:defRPr sz="1083"/>
            </a:lvl5pPr>
            <a:lvl6pPr marL="2721184" indent="0">
              <a:buNone/>
              <a:defRPr sz="1083"/>
            </a:lvl6pPr>
            <a:lvl7pPr marL="3265420" indent="0">
              <a:buNone/>
              <a:defRPr sz="1083"/>
            </a:lvl7pPr>
            <a:lvl8pPr marL="3809657" indent="0">
              <a:buNone/>
              <a:defRPr sz="1083"/>
            </a:lvl8pPr>
            <a:lvl9pPr marL="4353894" indent="0">
              <a:buNone/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58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41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33"/>
            </a:lvl1pPr>
            <a:lvl2pPr marL="544237" indent="0">
              <a:buNone/>
              <a:defRPr sz="3333"/>
            </a:lvl2pPr>
            <a:lvl3pPr marL="1088473" indent="0">
              <a:buNone/>
              <a:defRPr sz="2833"/>
            </a:lvl3pPr>
            <a:lvl4pPr marL="1632711" indent="0">
              <a:buNone/>
              <a:defRPr sz="2417"/>
            </a:lvl4pPr>
            <a:lvl5pPr marL="2176947" indent="0">
              <a:buNone/>
              <a:defRPr sz="2417"/>
            </a:lvl5pPr>
            <a:lvl6pPr marL="2721184" indent="0">
              <a:buNone/>
              <a:defRPr sz="2417"/>
            </a:lvl6pPr>
            <a:lvl7pPr marL="3265420" indent="0">
              <a:buNone/>
              <a:defRPr sz="2417"/>
            </a:lvl7pPr>
            <a:lvl8pPr marL="3809657" indent="0">
              <a:buNone/>
              <a:defRPr sz="2417"/>
            </a:lvl8pPr>
            <a:lvl9pPr marL="4353894" indent="0">
              <a:buNone/>
              <a:defRPr sz="241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67"/>
            </a:lvl1pPr>
            <a:lvl2pPr marL="544237" indent="0">
              <a:buNone/>
              <a:defRPr sz="1417"/>
            </a:lvl2pPr>
            <a:lvl3pPr marL="1088473" indent="0">
              <a:buNone/>
              <a:defRPr sz="1167"/>
            </a:lvl3pPr>
            <a:lvl4pPr marL="1632711" indent="0">
              <a:buNone/>
              <a:defRPr sz="1083"/>
            </a:lvl4pPr>
            <a:lvl5pPr marL="2176947" indent="0">
              <a:buNone/>
              <a:defRPr sz="1083"/>
            </a:lvl5pPr>
            <a:lvl6pPr marL="2721184" indent="0">
              <a:buNone/>
              <a:defRPr sz="1083"/>
            </a:lvl6pPr>
            <a:lvl7pPr marL="3265420" indent="0">
              <a:buNone/>
              <a:defRPr sz="1083"/>
            </a:lvl7pPr>
            <a:lvl8pPr marL="3809657" indent="0">
              <a:buNone/>
              <a:defRPr sz="1083"/>
            </a:lvl8pPr>
            <a:lvl9pPr marL="4353894" indent="0">
              <a:buNone/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73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4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43567" y="330200"/>
            <a:ext cx="4387851" cy="702151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5785" y="330200"/>
            <a:ext cx="12964583" cy="70215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833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8000" y="152400"/>
            <a:ext cx="1320800" cy="470100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2085790" y="395351"/>
            <a:ext cx="81600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2400" b="1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2101601" y="850900"/>
            <a:ext cx="8160000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</a:ln>
          <a:effectLst/>
        </p:spPr>
      </p:cxnSp>
      <p:pic>
        <p:nvPicPr>
          <p:cNvPr id="20" name="Picture 1" descr="JSW-Steel-Logo-wo-Bylin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6001" y="6264000"/>
            <a:ext cx="1970716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336799" y="6288741"/>
            <a:ext cx="7680000" cy="533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1" i="1">
                <a:latin typeface="Calibri" pitchFamily="34" charset="0"/>
                <a:cs typeface="Arial" pitchFamily="34" charset="0"/>
              </a:defRPr>
            </a:lvl1pPr>
            <a:lvl2pPr marL="457182" indent="0">
              <a:buNone/>
              <a:defRPr sz="1200"/>
            </a:lvl2pPr>
            <a:lvl3pPr marL="914363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0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 dirty="0"/>
              <a:t>Click to edit Master text </a:t>
            </a:r>
            <a:r>
              <a:rPr lang="en-US"/>
              <a:t>styles </a:t>
            </a:r>
            <a:endParaRPr lang="en-US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336799" y="6249600"/>
            <a:ext cx="0" cy="532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Folded Corner 22"/>
          <p:cNvSpPr/>
          <p:nvPr/>
        </p:nvSpPr>
        <p:spPr>
          <a:xfrm>
            <a:off x="11563847" y="6477000"/>
            <a:ext cx="609600" cy="457200"/>
          </a:xfrm>
          <a:prstGeom prst="foldedCorner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4237">
              <a:defRPr/>
            </a:pPr>
            <a:fld id="{DD99592E-6A6B-4F3F-8911-AE246CEC31AF}" type="slidenum">
              <a:rPr lang="en-US" sz="1400" b="1" smtClean="0">
                <a:solidFill>
                  <a:prstClr val="white"/>
                </a:solidFill>
              </a:rPr>
              <a:pPr algn="ctr" defTabSz="544237">
                <a:defRPr/>
              </a:pPr>
              <a:t>‹#›</a:t>
            </a:fld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4136" y="5257800"/>
            <a:ext cx="11837948" cy="73250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886" indent="-342886">
              <a:buClr>
                <a:schemeClr val="accent2">
                  <a:lumMod val="75000"/>
                </a:schemeClr>
              </a:buClr>
              <a:buFont typeface="Calibri" panose="020F0502020204030204" pitchFamily="34" charset="0"/>
              <a:buChar char="»"/>
              <a:defRPr sz="2000">
                <a:latin typeface="+mn-lt"/>
              </a:defRPr>
            </a:lvl1pPr>
            <a:lvl2pPr marL="457182" indent="-228591">
              <a:buClr>
                <a:schemeClr val="accent2">
                  <a:lumMod val="75000"/>
                </a:schemeClr>
              </a:buClr>
              <a:buFont typeface="Calibri" panose="020F0502020204030204" pitchFamily="34" charset="0"/>
              <a:buChar char="›"/>
              <a:defRPr sz="1800">
                <a:latin typeface="+mn-lt"/>
              </a:defRPr>
            </a:lvl2pPr>
            <a:lvl3pPr marL="685773" indent="-228591">
              <a:defRPr sz="1800">
                <a:latin typeface="+mn-lt"/>
              </a:defRPr>
            </a:lvl3pPr>
            <a:lvl4pPr marL="914363" indent="-228591">
              <a:defRPr sz="1600">
                <a:latin typeface="+mn-lt"/>
              </a:defRPr>
            </a:lvl4pPr>
            <a:lvl5pPr marL="1142954" indent="-228591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 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62840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8000" y="152400"/>
            <a:ext cx="1320800" cy="470100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2085790" y="395351"/>
            <a:ext cx="81600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2400" b="1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2101601" y="850900"/>
            <a:ext cx="8160000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</a:ln>
          <a:effectLst/>
        </p:spPr>
      </p:cxnSp>
      <p:pic>
        <p:nvPicPr>
          <p:cNvPr id="20" name="Picture 1" descr="JSW-Steel-Logo-wo-Bylin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6001" y="6264000"/>
            <a:ext cx="1970716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336799" y="6288741"/>
            <a:ext cx="7680000" cy="533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1" i="1">
                <a:latin typeface="Calibri" pitchFamily="34" charset="0"/>
                <a:cs typeface="Arial" pitchFamily="34" charset="0"/>
              </a:defRPr>
            </a:lvl1pPr>
            <a:lvl2pPr marL="457182" indent="0">
              <a:buNone/>
              <a:defRPr sz="1200"/>
            </a:lvl2pPr>
            <a:lvl3pPr marL="914363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0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 dirty="0"/>
              <a:t>Click to edit Master text </a:t>
            </a:r>
            <a:r>
              <a:rPr lang="en-US"/>
              <a:t>styles </a:t>
            </a:r>
            <a:endParaRPr lang="en-US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336799" y="6249600"/>
            <a:ext cx="0" cy="532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Folded Corner 22"/>
          <p:cNvSpPr/>
          <p:nvPr/>
        </p:nvSpPr>
        <p:spPr>
          <a:xfrm>
            <a:off x="11563847" y="6477000"/>
            <a:ext cx="609600" cy="457200"/>
          </a:xfrm>
          <a:prstGeom prst="foldedCorner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4237">
              <a:defRPr/>
            </a:pPr>
            <a:fld id="{DD99592E-6A6B-4F3F-8911-AE246CEC31AF}" type="slidenum">
              <a:rPr lang="en-US" sz="1400" b="1" smtClean="0">
                <a:solidFill>
                  <a:prstClr val="white"/>
                </a:solidFill>
              </a:rPr>
              <a:pPr algn="ctr" defTabSz="544237">
                <a:defRPr/>
              </a:pPr>
              <a:t>‹#›</a:t>
            </a:fld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4136" y="5257800"/>
            <a:ext cx="11837948" cy="73250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886" indent="-342886">
              <a:buClr>
                <a:schemeClr val="accent2">
                  <a:lumMod val="75000"/>
                </a:schemeClr>
              </a:buClr>
              <a:buFont typeface="Calibri" panose="020F0502020204030204" pitchFamily="34" charset="0"/>
              <a:buChar char="»"/>
              <a:defRPr sz="2000">
                <a:latin typeface="+mn-lt"/>
              </a:defRPr>
            </a:lvl1pPr>
            <a:lvl2pPr marL="457182" indent="-228591">
              <a:buClr>
                <a:schemeClr val="accent2">
                  <a:lumMod val="75000"/>
                </a:schemeClr>
              </a:buClr>
              <a:buFont typeface="Calibri" panose="020F0502020204030204" pitchFamily="34" charset="0"/>
              <a:buChar char="›"/>
              <a:defRPr sz="1800">
                <a:latin typeface="+mn-lt"/>
              </a:defRPr>
            </a:lvl2pPr>
            <a:lvl3pPr marL="685773" indent="-228591">
              <a:defRPr sz="1800">
                <a:latin typeface="+mn-lt"/>
              </a:defRPr>
            </a:lvl3pPr>
            <a:lvl4pPr marL="914363" indent="-228591">
              <a:defRPr sz="1600">
                <a:latin typeface="+mn-lt"/>
              </a:defRPr>
            </a:lvl4pPr>
            <a:lvl5pPr marL="1142954" indent="-228591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 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937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8000" y="152400"/>
            <a:ext cx="1320800" cy="470100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2085790" y="395351"/>
            <a:ext cx="81600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2400" b="1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2101601" y="850900"/>
            <a:ext cx="8160000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</a:ln>
          <a:effectLst/>
        </p:spPr>
      </p:cxnSp>
      <p:pic>
        <p:nvPicPr>
          <p:cNvPr id="20" name="Picture 1" descr="JSW-Steel-Logo-wo-Bylin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6001" y="6264000"/>
            <a:ext cx="1970716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336799" y="6288741"/>
            <a:ext cx="7680000" cy="533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1" i="1">
                <a:latin typeface="Calibri" pitchFamily="34" charset="0"/>
                <a:cs typeface="Arial" pitchFamily="34" charset="0"/>
              </a:defRPr>
            </a:lvl1pPr>
            <a:lvl2pPr marL="457182" indent="0">
              <a:buNone/>
              <a:defRPr sz="1200"/>
            </a:lvl2pPr>
            <a:lvl3pPr marL="914363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0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 dirty="0"/>
              <a:t>Click to edit Master text </a:t>
            </a:r>
            <a:r>
              <a:rPr lang="en-US"/>
              <a:t>styles </a:t>
            </a:r>
            <a:endParaRPr lang="en-US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336799" y="6249600"/>
            <a:ext cx="0" cy="532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Folded Corner 22"/>
          <p:cNvSpPr/>
          <p:nvPr/>
        </p:nvSpPr>
        <p:spPr>
          <a:xfrm>
            <a:off x="11563847" y="6477000"/>
            <a:ext cx="609600" cy="457200"/>
          </a:xfrm>
          <a:prstGeom prst="foldedCorner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4237">
              <a:defRPr/>
            </a:pPr>
            <a:fld id="{DD99592E-6A6B-4F3F-8911-AE246CEC31AF}" type="slidenum">
              <a:rPr lang="en-US" sz="1400" b="1" smtClean="0">
                <a:solidFill>
                  <a:prstClr val="white"/>
                </a:solidFill>
              </a:rPr>
              <a:pPr algn="ctr" defTabSz="544237">
                <a:defRPr/>
              </a:pPr>
              <a:t>‹#›</a:t>
            </a:fld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4136" y="5257800"/>
            <a:ext cx="11837948" cy="73250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886" indent="-342886">
              <a:buClr>
                <a:schemeClr val="accent2">
                  <a:lumMod val="75000"/>
                </a:schemeClr>
              </a:buClr>
              <a:buFont typeface="Calibri" panose="020F0502020204030204" pitchFamily="34" charset="0"/>
              <a:buChar char="»"/>
              <a:defRPr sz="2000">
                <a:latin typeface="+mn-lt"/>
              </a:defRPr>
            </a:lvl1pPr>
            <a:lvl2pPr marL="457182" indent="-228591">
              <a:buClr>
                <a:schemeClr val="accent2">
                  <a:lumMod val="75000"/>
                </a:schemeClr>
              </a:buClr>
              <a:buFont typeface="Calibri" panose="020F0502020204030204" pitchFamily="34" charset="0"/>
              <a:buChar char="›"/>
              <a:defRPr sz="1800">
                <a:latin typeface="+mn-lt"/>
              </a:defRPr>
            </a:lvl2pPr>
            <a:lvl3pPr marL="685773" indent="-228591">
              <a:defRPr sz="1800">
                <a:latin typeface="+mn-lt"/>
              </a:defRPr>
            </a:lvl3pPr>
            <a:lvl4pPr marL="914363" indent="-228591">
              <a:defRPr sz="1600">
                <a:latin typeface="+mn-lt"/>
              </a:defRPr>
            </a:lvl4pPr>
            <a:lvl5pPr marL="1142954" indent="-228591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 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84443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8000" y="152400"/>
            <a:ext cx="1320800" cy="470100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2085790" y="395351"/>
            <a:ext cx="81600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2400" b="1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2101601" y="850900"/>
            <a:ext cx="8160000" cy="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</a:ln>
          <a:effectLst/>
        </p:spPr>
      </p:cxnSp>
      <p:pic>
        <p:nvPicPr>
          <p:cNvPr id="20" name="Picture 1" descr="JSW-Steel-Logo-wo-Bylin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6001" y="6264000"/>
            <a:ext cx="1970716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336799" y="6288741"/>
            <a:ext cx="7680000" cy="533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1" i="1">
                <a:latin typeface="Calibri" pitchFamily="34" charset="0"/>
                <a:cs typeface="Arial" pitchFamily="34" charset="0"/>
              </a:defRPr>
            </a:lvl1pPr>
            <a:lvl2pPr marL="457182" indent="0">
              <a:buNone/>
              <a:defRPr sz="1200"/>
            </a:lvl2pPr>
            <a:lvl3pPr marL="914363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0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 dirty="0"/>
              <a:t>Click to edit Master text </a:t>
            </a:r>
            <a:r>
              <a:rPr lang="en-US"/>
              <a:t>styles </a:t>
            </a:r>
            <a:endParaRPr lang="en-US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336799" y="6249600"/>
            <a:ext cx="0" cy="532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Folded Corner 22"/>
          <p:cNvSpPr/>
          <p:nvPr/>
        </p:nvSpPr>
        <p:spPr>
          <a:xfrm>
            <a:off x="11563847" y="6477000"/>
            <a:ext cx="609600" cy="457200"/>
          </a:xfrm>
          <a:prstGeom prst="foldedCorner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4237">
              <a:defRPr/>
            </a:pPr>
            <a:fld id="{DD99592E-6A6B-4F3F-8911-AE246CEC31AF}" type="slidenum">
              <a:rPr lang="en-US" sz="1400" b="1" smtClean="0">
                <a:solidFill>
                  <a:prstClr val="white"/>
                </a:solidFill>
              </a:rPr>
              <a:pPr algn="ctr" defTabSz="544237">
                <a:defRPr/>
              </a:pPr>
              <a:t>‹#›</a:t>
            </a:fld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4136" y="5257800"/>
            <a:ext cx="11837948" cy="73250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886" indent="-342886">
              <a:buClr>
                <a:schemeClr val="accent2">
                  <a:lumMod val="75000"/>
                </a:schemeClr>
              </a:buClr>
              <a:buFont typeface="Calibri" panose="020F0502020204030204" pitchFamily="34" charset="0"/>
              <a:buChar char="»"/>
              <a:defRPr sz="2000">
                <a:latin typeface="+mn-lt"/>
              </a:defRPr>
            </a:lvl1pPr>
            <a:lvl2pPr marL="457182" indent="-228591">
              <a:buClr>
                <a:schemeClr val="accent2">
                  <a:lumMod val="75000"/>
                </a:schemeClr>
              </a:buClr>
              <a:buFont typeface="Calibri" panose="020F0502020204030204" pitchFamily="34" charset="0"/>
              <a:buChar char="›"/>
              <a:defRPr sz="1800">
                <a:latin typeface="+mn-lt"/>
              </a:defRPr>
            </a:lvl2pPr>
            <a:lvl3pPr marL="685773" indent="-228591">
              <a:defRPr sz="1800">
                <a:latin typeface="+mn-lt"/>
              </a:defRPr>
            </a:lvl3pPr>
            <a:lvl4pPr marL="914363" indent="-228591">
              <a:defRPr sz="1600">
                <a:latin typeface="+mn-lt"/>
              </a:defRPr>
            </a:lvl4pPr>
            <a:lvl5pPr marL="1142954" indent="-228591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 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46260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504" y="388938"/>
            <a:ext cx="9865913" cy="400110"/>
          </a:xfrm>
          <a:prstGeom prst="rect">
            <a:avLst/>
          </a:prstGeom>
        </p:spPr>
        <p:txBody>
          <a:bodyPr lIns="130622" tIns="65311" rIns="130622" bIns="65311"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63033" y="1652400"/>
            <a:ext cx="11068800" cy="4442400"/>
          </a:xfrm>
          <a:prstGeom prst="rect">
            <a:avLst/>
          </a:prstGeom>
        </p:spPr>
        <p:txBody>
          <a:bodyPr lIns="130622" tIns="65311" rIns="130622" bIns="6531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12035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0291" y="6248400"/>
            <a:ext cx="99085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74024" y="6492880"/>
            <a:ext cx="2843953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B1A44F61-A915-4200-9970-F186D323743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6540" y="6551766"/>
            <a:ext cx="19276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white">
                    <a:lumMod val="50000"/>
                  </a:prstClr>
                </a:solidFill>
              </a:rPr>
              <a:t>Business Excellence, JSW Dolvi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08789" y="467380"/>
            <a:ext cx="9679922" cy="523220"/>
          </a:xfrm>
        </p:spPr>
        <p:txBody>
          <a:bodyPr/>
          <a:lstStyle>
            <a:lvl1pPr>
              <a:defRPr lang="en-US" sz="2800" b="1" kern="1200" dirty="0">
                <a:solidFill>
                  <a:srgbClr val="16479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197489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0291" y="6248400"/>
            <a:ext cx="99085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74024" y="6492880"/>
            <a:ext cx="2843953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B1A44F61-A915-4200-9970-F186D323743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6540" y="6551766"/>
            <a:ext cx="19276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white">
                    <a:lumMod val="50000"/>
                  </a:prstClr>
                </a:solidFill>
              </a:rPr>
              <a:t>Business Excellence, JSW Dolvi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08789" y="467380"/>
            <a:ext cx="9679922" cy="523220"/>
          </a:xfrm>
        </p:spPr>
        <p:txBody>
          <a:bodyPr/>
          <a:lstStyle>
            <a:lvl1pPr>
              <a:defRPr lang="en-US" sz="2800" b="1" kern="1200" dirty="0">
                <a:solidFill>
                  <a:srgbClr val="16479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4610459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0291" y="6248400"/>
            <a:ext cx="99085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74024" y="6492880"/>
            <a:ext cx="2843953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B1A44F61-A915-4200-9970-F186D323743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6540" y="6551766"/>
            <a:ext cx="19276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white">
                    <a:lumMod val="50000"/>
                  </a:prstClr>
                </a:solidFill>
              </a:rPr>
              <a:t>Business Excellence, JSW Dolvi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08789" y="467380"/>
            <a:ext cx="9679922" cy="523220"/>
          </a:xfrm>
        </p:spPr>
        <p:txBody>
          <a:bodyPr/>
          <a:lstStyle>
            <a:lvl1pPr>
              <a:defRPr lang="en-US" sz="2800" b="1" kern="1200" dirty="0">
                <a:solidFill>
                  <a:srgbClr val="16479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171553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0291" y="6248400"/>
            <a:ext cx="99085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74024" y="6492880"/>
            <a:ext cx="2843953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B1A44F61-A915-4200-9970-F186D323743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6540" y="6551766"/>
            <a:ext cx="19276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white">
                    <a:lumMod val="50000"/>
                  </a:prstClr>
                </a:solidFill>
              </a:rPr>
              <a:t>Business Excellence, JSW Dolvi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08789" y="467380"/>
            <a:ext cx="9679922" cy="523220"/>
          </a:xfrm>
        </p:spPr>
        <p:txBody>
          <a:bodyPr/>
          <a:lstStyle>
            <a:lvl1pPr>
              <a:defRPr lang="en-US" sz="2800" b="1" kern="1200" dirty="0">
                <a:solidFill>
                  <a:srgbClr val="16479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6590283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0291" y="6248400"/>
            <a:ext cx="99085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74024" y="6492880"/>
            <a:ext cx="2843953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B1A44F61-A915-4200-9970-F186D323743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6540" y="6551766"/>
            <a:ext cx="19276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white">
                    <a:lumMod val="50000"/>
                  </a:prstClr>
                </a:solidFill>
              </a:rPr>
              <a:t>Business Excellence, JSW Dolvi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08789" y="467380"/>
            <a:ext cx="9679922" cy="523220"/>
          </a:xfrm>
        </p:spPr>
        <p:txBody>
          <a:bodyPr/>
          <a:lstStyle>
            <a:lvl1pPr>
              <a:defRPr lang="en-US" sz="2800" b="1" kern="1200" dirty="0">
                <a:solidFill>
                  <a:srgbClr val="16479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1367811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0291" y="6248400"/>
            <a:ext cx="99085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74024" y="6492880"/>
            <a:ext cx="2843953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B1A44F61-A915-4200-9970-F186D323743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6540" y="6551766"/>
            <a:ext cx="19276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white">
                    <a:lumMod val="50000"/>
                  </a:prstClr>
                </a:solidFill>
              </a:rPr>
              <a:t>Business Excellence, JSW Dolvi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08789" y="467380"/>
            <a:ext cx="9679922" cy="523220"/>
          </a:xfrm>
        </p:spPr>
        <p:txBody>
          <a:bodyPr/>
          <a:lstStyle>
            <a:lvl1pPr>
              <a:defRPr lang="en-US" sz="2800" b="1" kern="1200" dirty="0">
                <a:solidFill>
                  <a:srgbClr val="16479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906250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 descr="PPT-Templet-01.png"/>
          <p:cNvPicPr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579790"/>
            <a:ext cx="11631083" cy="569842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18584" y="3185346"/>
            <a:ext cx="5903804" cy="48737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2667" b="1" cap="all" dirty="0">
                <a:solidFill>
                  <a:prstClr val="white"/>
                </a:solidFill>
                <a:latin typeface="Verdana"/>
                <a:cs typeface="Verdana"/>
              </a:rPr>
              <a:t>THANK YOU</a:t>
            </a:r>
            <a:endParaRPr lang="en-US" sz="2667" cap="all" dirty="0">
              <a:solidFill>
                <a:prstClr val="white"/>
              </a:solidFill>
              <a:latin typeface="Verdana"/>
              <a:cs typeface="Verdana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296709"/>
            <a:ext cx="444500" cy="26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459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2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050291" y="76200"/>
            <a:ext cx="99085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D89FB-DF66-44BC-8F27-71E464AFA2E1}" type="datetime1">
              <a:rPr lang="en-US"/>
              <a:pPr>
                <a:defRPr/>
              </a:pPr>
              <a:t>6/20/2026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Line 3"/>
          <p:cNvSpPr>
            <a:spLocks noChangeShapeType="1"/>
          </p:cNvSpPr>
          <p:nvPr userDrawn="1">
            <p:custDataLst>
              <p:tags r:id="rId1"/>
            </p:custDataLst>
          </p:nvPr>
        </p:nvSpPr>
        <p:spPr bwMode="auto">
          <a:xfrm>
            <a:off x="1250110" y="903155"/>
            <a:ext cx="10937221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9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79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44237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44237"/>
            <a:r>
              <a:rPr lang="en-US">
                <a:solidFill>
                  <a:prstClr val="black">
                    <a:tint val="75000"/>
                  </a:prstClr>
                </a:solidFill>
              </a:rPr>
              <a:t>CII Exim Bank Award 2018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44237"/>
            <a:fld id="{AD8096B3-FB60-2643-90FA-73CCED58495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54423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84102"/>
            <a:ext cx="479784" cy="266235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 rot="10800000">
            <a:off x="2" y="1234699"/>
            <a:ext cx="5471582" cy="1323"/>
          </a:xfrm>
          <a:prstGeom prst="line">
            <a:avLst/>
          </a:prstGeom>
          <a:ln w="19050">
            <a:solidFill>
              <a:srgbClr val="B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1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4" r:id="rId24"/>
  </p:sldLayoutIdLst>
  <p:hf hdr="0" dt="0"/>
  <p:txStyles>
    <p:titleStyle>
      <a:lvl1pPr algn="ctr" defTabSz="544237" rtl="0" eaLnBrk="1" latinLnBrk="0" hangingPunct="1">
        <a:spcBef>
          <a:spcPct val="0"/>
        </a:spcBef>
        <a:buNone/>
        <a:defRPr sz="5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178" indent="-408178" algn="l" defTabSz="544237" rtl="0" eaLnBrk="1" latinLnBrk="0" hangingPunct="1">
        <a:spcBef>
          <a:spcPct val="20000"/>
        </a:spcBef>
        <a:buFont typeface="Arial"/>
        <a:buChar char="•"/>
        <a:defRPr sz="3833" kern="1200">
          <a:solidFill>
            <a:schemeClr val="tx1"/>
          </a:solidFill>
          <a:latin typeface="+mn-lt"/>
          <a:ea typeface="+mn-ea"/>
          <a:cs typeface="+mn-cs"/>
        </a:defRPr>
      </a:lvl1pPr>
      <a:lvl2pPr marL="884385" indent="-340148" algn="l" defTabSz="544237" rtl="0" eaLnBrk="1" latinLnBrk="0" hangingPunct="1">
        <a:spcBef>
          <a:spcPct val="20000"/>
        </a:spcBef>
        <a:buFont typeface="Arial"/>
        <a:buChar char="–"/>
        <a:defRPr sz="3333" kern="1200">
          <a:solidFill>
            <a:schemeClr val="tx1"/>
          </a:solidFill>
          <a:latin typeface="+mn-lt"/>
          <a:ea typeface="+mn-ea"/>
          <a:cs typeface="+mn-cs"/>
        </a:defRPr>
      </a:lvl2pPr>
      <a:lvl3pPr marL="1360592" indent="-272118" algn="l" defTabSz="544237" rtl="0" eaLnBrk="1" latinLnBrk="0" hangingPunct="1">
        <a:spcBef>
          <a:spcPct val="20000"/>
        </a:spcBef>
        <a:buFont typeface="Arial"/>
        <a:buChar char="•"/>
        <a:defRPr sz="2833" kern="1200">
          <a:solidFill>
            <a:schemeClr val="tx1"/>
          </a:solidFill>
          <a:latin typeface="+mn-lt"/>
          <a:ea typeface="+mn-ea"/>
          <a:cs typeface="+mn-cs"/>
        </a:defRPr>
      </a:lvl3pPr>
      <a:lvl4pPr marL="1904829" indent="-272118" algn="l" defTabSz="544237" rtl="0" eaLnBrk="1" latinLnBrk="0" hangingPunct="1">
        <a:spcBef>
          <a:spcPct val="20000"/>
        </a:spcBef>
        <a:buFont typeface="Arial"/>
        <a:buChar char="–"/>
        <a:defRPr sz="2417" kern="1200">
          <a:solidFill>
            <a:schemeClr val="tx1"/>
          </a:solidFill>
          <a:latin typeface="+mn-lt"/>
          <a:ea typeface="+mn-ea"/>
          <a:cs typeface="+mn-cs"/>
        </a:defRPr>
      </a:lvl4pPr>
      <a:lvl5pPr marL="2449065" indent="-272118" algn="l" defTabSz="544237" rtl="0" eaLnBrk="1" latinLnBrk="0" hangingPunct="1">
        <a:spcBef>
          <a:spcPct val="20000"/>
        </a:spcBef>
        <a:buFont typeface="Arial"/>
        <a:buChar char="»"/>
        <a:defRPr sz="2417" kern="1200">
          <a:solidFill>
            <a:schemeClr val="tx1"/>
          </a:solidFill>
          <a:latin typeface="+mn-lt"/>
          <a:ea typeface="+mn-ea"/>
          <a:cs typeface="+mn-cs"/>
        </a:defRPr>
      </a:lvl5pPr>
      <a:lvl6pPr marL="2993302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537538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081776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4626012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1pPr>
      <a:lvl2pPr marL="54423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2pPr>
      <a:lvl3pPr marL="1088473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632711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17694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1184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65420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80965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353894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8448" y="256032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E96"/>
                </a:solidFill>
                <a:latin typeface="Calibri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331720"/>
            <a:ext cx="164592" cy="1920240"/>
          </a:xfrm>
          <a:prstGeom prst="rect">
            <a:avLst/>
          </a:prstGeom>
          <a:solidFill>
            <a:srgbClr val="C8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2377440"/>
            <a:ext cx="9418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4E96"/>
                </a:solidFill>
                <a:latin typeface="Calibri"/>
              </a:rPr>
              <a:t>Predictive Analysis of LT Wheel &amp; Rail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79476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E75B6"/>
                </a:solidFill>
                <a:latin typeface="Calibri"/>
              </a:rPr>
              <a:t>YZ Bay Billet Charging EOT Crane — A Business Analytics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6634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D7E"/>
                </a:solidFill>
                <a:latin typeface="Calibri"/>
              </a:rPr>
              <a:t>Prem Kumar Thauvan   |   Crane Maintenance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9803" y="177374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1F4E96"/>
                </a:solidFill>
                <a:latin typeface="Calibri"/>
              </a:rPr>
              <a:t>Objective &amp;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C8202B"/>
                </a:solidFill>
              </a:rPr>
              <a:t>▶  </a:t>
            </a:r>
            <a:r>
              <a:rPr sz="1700" b="1">
                <a:solidFill>
                  <a:srgbClr val="222A33"/>
                </a:solidFill>
              </a:rPr>
              <a:t>Goal</a:t>
            </a:r>
            <a:r>
              <a:rPr sz="1500">
                <a:solidFill>
                  <a:srgbClr val="5D6D7E"/>
                </a:solidFill>
              </a:rPr>
              <a:t> — Forecast LT wheel failures and rail degradation before they cause unplanned crane downtime.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C8202B"/>
                </a:solidFill>
              </a:rPr>
              <a:t>▶  </a:t>
            </a:r>
            <a:r>
              <a:rPr sz="1700" b="1">
                <a:solidFill>
                  <a:srgbClr val="222A33"/>
                </a:solidFill>
              </a:rPr>
              <a:t>Why it matters</a:t>
            </a:r>
            <a:r>
              <a:rPr sz="1500">
                <a:solidFill>
                  <a:srgbClr val="5D6D7E"/>
                </a:solidFill>
              </a:rPr>
              <a:t> — Unplanned wheel/rail failures halt billet charging operations and raise maintenance cost.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C8202B"/>
                </a:solidFill>
              </a:rPr>
              <a:t>▶  </a:t>
            </a:r>
            <a:r>
              <a:rPr sz="1700" b="1">
                <a:solidFill>
                  <a:srgbClr val="222A33"/>
                </a:solidFill>
              </a:rPr>
              <a:t>Approach</a:t>
            </a:r>
            <a:r>
              <a:rPr sz="1500">
                <a:solidFill>
                  <a:srgbClr val="5D6D7E"/>
                </a:solidFill>
              </a:rPr>
              <a:t> — Use historical maintenance data + predictive analytics to plan proactively.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840480"/>
            <a:ext cx="10058400" cy="1783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3840480"/>
            <a:ext cx="137160" cy="1783080"/>
          </a:xfrm>
          <a:prstGeom prst="rect">
            <a:avLst/>
          </a:prstGeom>
          <a:solidFill>
            <a:srgbClr val="C8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005072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4E96"/>
                </a:solidFill>
                <a:latin typeface="Calibri"/>
              </a:rPr>
              <a:t>Expected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C8202B"/>
                </a:solidFill>
              </a:rPr>
              <a:t>▶  </a:t>
            </a:r>
            <a:r>
              <a:rPr sz="1400" b="1">
                <a:solidFill>
                  <a:srgbClr val="222A33"/>
                </a:solidFill>
              </a:rPr>
              <a:t>Forecast failures</a:t>
            </a:r>
            <a:r>
              <a:rPr sz="1200">
                <a:solidFill>
                  <a:srgbClr val="5D6D7E"/>
                </a:solidFill>
              </a:rPr>
              <a:t> — 3 / 6 / 12 months ahead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C8202B"/>
                </a:solidFill>
              </a:rPr>
              <a:t>▶  </a:t>
            </a:r>
            <a:r>
              <a:rPr sz="1400" b="1">
                <a:solidFill>
                  <a:srgbClr val="222A33"/>
                </a:solidFill>
              </a:rPr>
              <a:t>Rank rail risk zones</a:t>
            </a:r>
            <a:r>
              <a:rPr sz="1200">
                <a:solidFill>
                  <a:srgbClr val="5D6D7E"/>
                </a:solidFill>
              </a:rPr>
              <a:t> — Critical / High / Medium / Normal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C8202B"/>
                </a:solidFill>
              </a:rPr>
              <a:t>▶  </a:t>
            </a:r>
            <a:r>
              <a:rPr sz="1400" b="1">
                <a:solidFill>
                  <a:srgbClr val="222A33"/>
                </a:solidFill>
              </a:rPr>
              <a:t>Actionable recommendations</a:t>
            </a:r>
            <a:r>
              <a:rPr sz="1200">
                <a:solidFill>
                  <a:srgbClr val="5D6D7E"/>
                </a:solidFill>
              </a:rPr>
              <a:t> — Reduce downtime &amp; optimize replacement schedule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73296" y="329184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1F4E96"/>
                </a:solidFill>
                <a:latin typeface="Calibri"/>
              </a:rPr>
              <a:t>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651760"/>
            <a:ext cx="1706880" cy="137160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70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Load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70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8202B"/>
                </a:solidFill>
                <a:latin typeface="Calibr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5792" y="3017520"/>
            <a:ext cx="201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8202B"/>
                </a:solidFill>
                <a:latin typeface="Calibri"/>
              </a:rPr>
              <a:t>➜</a:t>
            </a:r>
          </a:p>
        </p:txBody>
      </p:sp>
      <p:sp>
        <p:nvSpPr>
          <p:cNvPr id="7" name="Rectangle 6"/>
          <p:cNvSpPr/>
          <p:nvPr/>
        </p:nvSpPr>
        <p:spPr>
          <a:xfrm>
            <a:off x="2365248" y="2651760"/>
            <a:ext cx="1706880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65248" y="2651760"/>
            <a:ext cx="170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Clean &amp;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5248" y="2194560"/>
            <a:ext cx="170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8202B"/>
                </a:solidFill>
                <a:latin typeface="Calibri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3840" y="3017520"/>
            <a:ext cx="201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8202B"/>
                </a:solidFill>
                <a:latin typeface="Calibri"/>
              </a:rPr>
              <a:t>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3296" y="2651760"/>
            <a:ext cx="1706880" cy="137160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3296" y="2651760"/>
            <a:ext cx="170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Explore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(KPIs+Charts)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3296" y="2194560"/>
            <a:ext cx="170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8202B"/>
                </a:solidFill>
                <a:latin typeface="Calibri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3017520"/>
            <a:ext cx="201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8202B"/>
                </a:solidFill>
                <a:latin typeface="Calibri"/>
              </a:rPr>
              <a:t>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2651760"/>
            <a:ext cx="1706880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1344" y="2651760"/>
            <a:ext cx="170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Preprocess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&amp; 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2194560"/>
            <a:ext cx="170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8202B"/>
                </a:solidFill>
                <a:latin typeface="Calibri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9936" y="3017520"/>
            <a:ext cx="201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8202B"/>
                </a:solidFill>
                <a:latin typeface="Calibri"/>
              </a:rPr>
              <a:t>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9392" y="2651760"/>
            <a:ext cx="1706880" cy="137160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89392" y="2651760"/>
            <a:ext cx="170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Predictive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9392" y="2194560"/>
            <a:ext cx="170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8202B"/>
                </a:solidFill>
                <a:latin typeface="Calibri"/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7984" y="3017520"/>
            <a:ext cx="201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8202B"/>
                </a:solidFill>
                <a:latin typeface="Calibri"/>
              </a:rPr>
              <a:t>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97440" y="2651760"/>
            <a:ext cx="1706880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97440" y="2651760"/>
            <a:ext cx="170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Forecast &amp;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7440" y="2194560"/>
            <a:ext cx="170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8202B"/>
                </a:solidFill>
                <a:latin typeface="Calibri"/>
              </a:rP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8056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D6D7E"/>
                </a:solidFill>
                <a:latin typeface="Calibri"/>
              </a:rPr>
              <a:t>A repeatable pipeline: every time new maintenance data arrives, the model can be retrained to keep forecasts current.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726" y="210312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E96"/>
                </a:solidFill>
                <a:latin typeface="Calibri"/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950976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Three sheets from the maintenance Excel workbook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474720" cy="3108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47472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474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Wheel Replacement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A33"/>
                </a:solidFill>
                <a:latin typeface="Calibri"/>
              </a:rPr>
              <a:t>Date, crane (East/West),</a:t>
            </a:r>
          </a:p>
          <a:p>
            <a:pPr algn="l"/>
            <a:r>
              <a:rPr sz="1400" b="0">
                <a:solidFill>
                  <a:srgbClr val="222A33"/>
                </a:solidFill>
                <a:latin typeface="Calibri"/>
              </a:rPr>
              <a:t>wheel position (SW/SE/NE/NW),</a:t>
            </a:r>
          </a:p>
          <a:p>
            <a:pPr algn="l"/>
            <a:r>
              <a:rPr sz="1400" b="0">
                <a:solidFill>
                  <a:srgbClr val="222A33"/>
                </a:solidFill>
                <a:latin typeface="Calibri"/>
              </a:rPr>
              <a:t>remarks for each 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737360"/>
            <a:ext cx="3474720" cy="3108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737360"/>
            <a:ext cx="347472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60" y="1737360"/>
            <a:ext cx="3474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Rail Hardness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0604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A33"/>
                </a:solidFill>
                <a:latin typeface="Calibri"/>
              </a:rPr>
              <a:t>Hardness readings (HB) for</a:t>
            </a:r>
          </a:p>
          <a:p>
            <a:pPr algn="l"/>
            <a:r>
              <a:rPr sz="1400" b="0">
                <a:solidFill>
                  <a:srgbClr val="222A33"/>
                </a:solidFill>
                <a:latin typeface="Calibri"/>
              </a:rPr>
              <a:t>North &amp; South rails across</a:t>
            </a:r>
          </a:p>
          <a:p>
            <a:pPr algn="l"/>
            <a:r>
              <a:rPr sz="1400" b="0">
                <a:solidFill>
                  <a:srgbClr val="222A33"/>
                </a:solidFill>
                <a:latin typeface="Calibri"/>
              </a:rPr>
              <a:t>12 track sections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737360"/>
            <a:ext cx="3474720" cy="3108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80" y="1737360"/>
            <a:ext cx="347472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0" y="1737360"/>
            <a:ext cx="3474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Rail Replacement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60604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A33"/>
                </a:solidFill>
                <a:latin typeface="Calibri"/>
              </a:rPr>
              <a:t>Job logs: pieces replaced,</a:t>
            </a:r>
          </a:p>
          <a:p>
            <a:pPr algn="l"/>
            <a:r>
              <a:rPr sz="1400" b="0">
                <a:solidFill>
                  <a:srgbClr val="222A33"/>
                </a:solidFill>
                <a:latin typeface="Calibri"/>
              </a:rPr>
              <a:t>column sections, reason</a:t>
            </a:r>
          </a:p>
          <a:p>
            <a:pPr algn="l"/>
            <a:r>
              <a:rPr sz="1400" b="0">
                <a:solidFill>
                  <a:srgbClr val="222A33"/>
                </a:solidFill>
                <a:latin typeface="Calibri"/>
              </a:rPr>
              <a:t>(welding / replacement)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D7E"/>
                </a:solidFill>
                <a:latin typeface="Calibri"/>
              </a:rPr>
              <a:t>Users can upload their own workbook or use the default file — the pipeline adapts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1984" y="201168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E96"/>
                </a:solidFill>
                <a:latin typeface="Calibri"/>
              </a:rPr>
              <a:t>Data Cleaning &amp; Structuring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950976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Turning messy records into reliable, analysis-ready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8202B"/>
                </a:solidFill>
              </a:rPr>
              <a:t>▶  </a:t>
            </a:r>
            <a:r>
              <a:rPr sz="1700" b="1">
                <a:solidFill>
                  <a:srgbClr val="222A33"/>
                </a:solidFill>
              </a:rPr>
              <a:t>Normalize crane names</a:t>
            </a:r>
            <a:r>
              <a:rPr sz="1500">
                <a:solidFill>
                  <a:srgbClr val="5D6D7E"/>
                </a:solidFill>
              </a:rPr>
              <a:t> — Any spelling of East/West unified into LT EAST / LT WEST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8202B"/>
                </a:solidFill>
              </a:rPr>
              <a:t>▶  </a:t>
            </a:r>
            <a:r>
              <a:rPr sz="1700" b="1">
                <a:solidFill>
                  <a:srgbClr val="222A33"/>
                </a:solidFill>
              </a:rPr>
              <a:t>Extract wheel position</a:t>
            </a:r>
            <a:r>
              <a:rPr sz="1500">
                <a:solidFill>
                  <a:srgbClr val="5D6D7E"/>
                </a:solidFill>
              </a:rPr>
              <a:t> — Detect SW, SE, NE, NW from text descriptions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8202B"/>
                </a:solidFill>
              </a:rPr>
              <a:t>▶  </a:t>
            </a:r>
            <a:r>
              <a:rPr sz="1700" b="1">
                <a:solidFill>
                  <a:srgbClr val="222A33"/>
                </a:solidFill>
              </a:rPr>
              <a:t>Parse dates</a:t>
            </a:r>
            <a:r>
              <a:rPr sz="1500">
                <a:solidFill>
                  <a:srgbClr val="5D6D7E"/>
                </a:solidFill>
              </a:rPr>
              <a:t> — Convert all records to real, sortable dates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8202B"/>
                </a:solidFill>
              </a:rPr>
              <a:t>▶  </a:t>
            </a:r>
            <a:r>
              <a:rPr sz="1700" b="1">
                <a:solidFill>
                  <a:srgbClr val="222A33"/>
                </a:solidFill>
              </a:rPr>
              <a:t>Read rail hardness layout</a:t>
            </a:r>
            <a:r>
              <a:rPr sz="1500">
                <a:solidFill>
                  <a:srgbClr val="5D6D7E"/>
                </a:solidFill>
              </a:rPr>
              <a:t> — Pull North/South readings per section into a clean table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8202B"/>
                </a:solidFill>
              </a:rPr>
              <a:t>▶  </a:t>
            </a:r>
            <a:r>
              <a:rPr sz="1700" b="1">
                <a:solidFill>
                  <a:srgbClr val="222A33"/>
                </a:solidFill>
              </a:rPr>
              <a:t>Mine job descriptions</a:t>
            </a:r>
            <a:r>
              <a:rPr sz="1500">
                <a:solidFill>
                  <a:srgbClr val="5D6D7E"/>
                </a:solidFill>
              </a:rPr>
              <a:t> — Extract pieces replaced, sections, and reason from free text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8202B"/>
                </a:solidFill>
              </a:rPr>
              <a:t>▶  </a:t>
            </a:r>
            <a:r>
              <a:rPr sz="1700" b="1">
                <a:solidFill>
                  <a:srgbClr val="222A33"/>
                </a:solidFill>
              </a:rPr>
              <a:t>Handle missing values</a:t>
            </a:r>
            <a:r>
              <a:rPr sz="1500">
                <a:solidFill>
                  <a:srgbClr val="5D6D7E"/>
                </a:solidFill>
              </a:rPr>
              <a:t> — Fill blanks and flag gaps so counts stay accurate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2991" y="201168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E96"/>
                </a:solidFill>
                <a:latin typeface="Calibri"/>
              </a:rP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950976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Actual figures from the current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2103120" cy="246888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4023360"/>
            <a:ext cx="2103120" cy="228600"/>
          </a:xfrm>
          <a:prstGeom prst="rect">
            <a:avLst/>
          </a:prstGeom>
          <a:solidFill>
            <a:srgbClr val="C8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920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6E2F2"/>
                </a:solidFill>
                <a:latin typeface="Calibri"/>
              </a:rPr>
              <a:t>Total Wheel</a:t>
            </a:r>
          </a:p>
          <a:p>
            <a:pPr algn="ctr"/>
            <a:r>
              <a:rPr sz="1300" b="1">
                <a:solidFill>
                  <a:srgbClr val="D6E2F2"/>
                </a:solidFill>
                <a:latin typeface="Calibri"/>
              </a:rPr>
              <a:t>Replacements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783080"/>
            <a:ext cx="2103120" cy="246888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0" y="4023360"/>
            <a:ext cx="2103120" cy="228600"/>
          </a:xfrm>
          <a:prstGeom prst="rect">
            <a:avLst/>
          </a:prstGeom>
          <a:solidFill>
            <a:srgbClr val="C8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14 /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108960"/>
            <a:ext cx="1920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6E2F2"/>
                </a:solidFill>
                <a:latin typeface="Calibri"/>
              </a:rPr>
              <a:t>West / East</a:t>
            </a:r>
          </a:p>
          <a:p>
            <a:pPr algn="ctr"/>
            <a:r>
              <a:rPr sz="1300" b="1">
                <a:solidFill>
                  <a:srgbClr val="D6E2F2"/>
                </a:solidFill>
                <a:latin typeface="Calibri"/>
              </a:rPr>
              <a:t>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1783080"/>
            <a:ext cx="2103120" cy="246888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83480" y="4023360"/>
            <a:ext cx="2103120" cy="228600"/>
          </a:xfrm>
          <a:prstGeom prst="rect">
            <a:avLst/>
          </a:prstGeom>
          <a:solidFill>
            <a:srgbClr val="C8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01168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354 / 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108960"/>
            <a:ext cx="1920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6E2F2"/>
                </a:solidFill>
                <a:latin typeface="Calibri"/>
              </a:rPr>
              <a:t>Avg Hardness</a:t>
            </a:r>
          </a:p>
          <a:p>
            <a:pPr algn="ctr"/>
            <a:r>
              <a:rPr sz="1300" b="1">
                <a:solidFill>
                  <a:srgbClr val="D6E2F2"/>
                </a:solidFill>
                <a:latin typeface="Calibri"/>
              </a:rPr>
              <a:t>N / S (HB)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783080"/>
            <a:ext cx="2103120" cy="246888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23760" y="4023360"/>
            <a:ext cx="2103120" cy="228600"/>
          </a:xfrm>
          <a:prstGeom prst="rect">
            <a:avLst/>
          </a:prstGeom>
          <a:solidFill>
            <a:srgbClr val="C8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201168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466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1920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6E2F2"/>
                </a:solidFill>
                <a:latin typeface="Calibri"/>
              </a:rPr>
              <a:t>Max Hardness</a:t>
            </a:r>
          </a:p>
          <a:p>
            <a:pPr algn="ctr"/>
            <a:r>
              <a:rPr sz="1300" b="1">
                <a:solidFill>
                  <a:srgbClr val="D6E2F2"/>
                </a:solidFill>
                <a:latin typeface="Calibri"/>
              </a:rPr>
              <a:t>(HB)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1783080"/>
            <a:ext cx="2103120" cy="246888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64040" y="4023360"/>
            <a:ext cx="2103120" cy="228600"/>
          </a:xfrm>
          <a:prstGeom prst="rect">
            <a:avLst/>
          </a:prstGeom>
          <a:solidFill>
            <a:srgbClr val="C8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40" y="201168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108960"/>
            <a:ext cx="1920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6E2F2"/>
                </a:solidFill>
                <a:latin typeface="Calibri"/>
              </a:rPr>
              <a:t>Rail Pieces</a:t>
            </a:r>
          </a:p>
          <a:p>
            <a:pPr algn="ctr"/>
            <a:r>
              <a:rPr sz="1300" b="1">
                <a:solidFill>
                  <a:srgbClr val="D6E2F2"/>
                </a:solidFill>
                <a:latin typeface="Calibri"/>
              </a:rPr>
              <a:t>Replaced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1772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D6D7E"/>
                </a:solidFill>
                <a:latin typeface="Calibri"/>
              </a:rPr>
              <a:t>9 North and 9 South sections exceed the 300 HB danger threshold — average track hardness is 351 HB.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26280" y="256032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E96"/>
                </a:solidFill>
                <a:latin typeface="Calibri"/>
              </a:rPr>
              <a:t>Failure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950976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Monthly volume and crane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64008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309360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78040" y="1325880"/>
            <a:ext cx="420624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y_cr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7160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983480"/>
            <a:ext cx="6309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West crane accounts for 14 of 15 failures — the clear priority for intervention.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78507" y="256032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E96"/>
                </a:solidFill>
                <a:latin typeface="Calibri"/>
              </a:rPr>
              <a:t>Weak Spots &amp; Rail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950976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Failure position and hardness danger zones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54864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y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39496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417320"/>
            <a:ext cx="54864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hard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9496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89204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Max hardness reaches 466 HB — well above the 400 HB critical line, accelerating wheel wear in those sections.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4499" y="301752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E96"/>
                </a:solidFill>
                <a:latin typeface="Calibri"/>
              </a:rPr>
              <a:t>Rail Hardness Risk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950976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Turning numbers into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10332720" cy="50292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Risk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Hardness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916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Recommended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194560"/>
            <a:ext cx="164592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A33"/>
                </a:solidFill>
                <a:latin typeface="Calibri"/>
              </a:rPr>
              <a:t>&gt; 400 HB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0"/>
            <a:ext cx="3840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A33"/>
                </a:solidFill>
                <a:latin typeface="Calibri"/>
              </a:rPr>
              <a:t>Immediate replacement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2971800"/>
            <a:ext cx="164592" cy="7315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97180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67E22"/>
                </a:solidFill>
                <a:latin typeface="Calibri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A33"/>
                </a:solidFill>
                <a:latin typeface="Calibri"/>
              </a:rPr>
              <a:t>&gt; 350 HB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971800"/>
            <a:ext cx="3840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A33"/>
                </a:solidFill>
                <a:latin typeface="Calibri"/>
              </a:rPr>
              <a:t>Schedule replacement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3749040"/>
            <a:ext cx="164592" cy="731520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374904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1C40F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4904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A33"/>
                </a:solidFill>
                <a:latin typeface="Calibri"/>
              </a:rPr>
              <a:t>&gt; 300 HB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749040"/>
            <a:ext cx="3840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A33"/>
                </a:solidFill>
                <a:latin typeface="Calibri"/>
              </a:rPr>
              <a:t>Monitor monthly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526280"/>
            <a:ext cx="10332720" cy="7315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4526280"/>
            <a:ext cx="164592" cy="7315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52628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Calibri"/>
              </a:rPr>
              <a:t>Normal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2628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A33"/>
                </a:solidFill>
                <a:latin typeface="Calibri"/>
              </a:rPr>
              <a:t>≤ 300 HB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526280"/>
            <a:ext cx="3840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A33"/>
                </a:solidFill>
                <a:latin typeface="Calibri"/>
              </a:rPr>
              <a:t>Normal operation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97287" y="310896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E96"/>
                </a:solidFill>
                <a:latin typeface="Calibri"/>
              </a:rPr>
              <a:t>Predictive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950976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Linear vs Polynomial — model fit on actual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694944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del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463040"/>
            <a:ext cx="4023360" cy="3291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60020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4E96"/>
                </a:solidFill>
                <a:latin typeface="Calibri"/>
              </a:rPr>
              <a:t>Model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945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C8202B"/>
                </a:solidFill>
              </a:rPr>
              <a:t>▶  </a:t>
            </a:r>
            <a:r>
              <a:rPr sz="1400" b="1">
                <a:solidFill>
                  <a:srgbClr val="222A33"/>
                </a:solidFill>
              </a:rPr>
              <a:t>Linear R² = 0.960</a:t>
            </a:r>
            <a:r>
              <a:rPr sz="1200">
                <a:solidFill>
                  <a:srgbClr val="5D6D7E"/>
                </a:solidFill>
              </a:rPr>
              <a:t> — MAE 0.7, RMSE 0.85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C8202B"/>
                </a:solidFill>
              </a:rPr>
              <a:t>▶  </a:t>
            </a:r>
            <a:r>
              <a:rPr sz="1400" b="1">
                <a:solidFill>
                  <a:srgbClr val="222A33"/>
                </a:solidFill>
              </a:rPr>
              <a:t>Polynomial R² = 0.967</a:t>
            </a:r>
            <a:r>
              <a:rPr sz="1200">
                <a:solidFill>
                  <a:srgbClr val="5D6D7E"/>
                </a:solidFill>
              </a:rPr>
              <a:t> — MAE 0.66, RMSE 0.77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C8202B"/>
                </a:solidFill>
              </a:rPr>
              <a:t>▶  </a:t>
            </a:r>
            <a:r>
              <a:rPr sz="1400" b="1">
                <a:solidFill>
                  <a:srgbClr val="222A33"/>
                </a:solidFill>
              </a:rPr>
              <a:t>Selected: Polynomial</a:t>
            </a:r>
            <a:r>
              <a:rPr sz="1200">
                <a:solidFill>
                  <a:srgbClr val="5D6D7E"/>
                </a:solidFill>
              </a:rPr>
              <a:t> — highest R² = best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D7E"/>
                </a:solidFill>
                <a:latin typeface="Calibri"/>
              </a:rPr>
              <a:t>Both models score highly; the better fit is selected automatically and used for the forecast.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86200" y="324612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E96"/>
                </a:solidFill>
                <a:latin typeface="Calibri"/>
              </a:rPr>
              <a:t>Forecast &amp; Risk Adjustment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950976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Risk-adjusted outlook for the next 12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694944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508760"/>
            <a:ext cx="3931920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+12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50876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Next 3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560320"/>
            <a:ext cx="3931920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+16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56032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Next 6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611880"/>
            <a:ext cx="3931920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361188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61188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Avg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Average hardness 351 HB applies a +51% risk boost. Recommendation: HIGH PRIORITY: Schedule comprehensive rail replacement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10241" y="347472"/>
            <a:ext cx="9509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E96"/>
                </a:solidFill>
                <a:latin typeface="Calibr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950976"/>
            <a:ext cx="9509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Data-driven maintenance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8202B"/>
                </a:solidFill>
              </a:rPr>
              <a:t>▶  </a:t>
            </a:r>
            <a:r>
              <a:rPr sz="1800" b="1">
                <a:solidFill>
                  <a:srgbClr val="222A33"/>
                </a:solidFill>
              </a:rPr>
              <a:t>Prioritize critical rail sections</a:t>
            </a:r>
            <a:r>
              <a:rPr sz="1600">
                <a:solidFill>
                  <a:srgbClr val="5D6D7E"/>
                </a:solidFill>
              </a:rPr>
              <a:t> — Sections above 400 HB (max 466 HB) replaced first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8202B"/>
                </a:solidFill>
              </a:rPr>
              <a:t>▶  </a:t>
            </a:r>
            <a:r>
              <a:rPr sz="1800" b="1">
                <a:solidFill>
                  <a:srgbClr val="222A33"/>
                </a:solidFill>
              </a:rPr>
              <a:t>Schedule wheel replacements proactively</a:t>
            </a:r>
            <a:r>
              <a:rPr sz="1600">
                <a:solidFill>
                  <a:srgbClr val="5D6D7E"/>
                </a:solidFill>
              </a:rPr>
              <a:t> — ~12 expected in 3 months, 16 in 6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8202B"/>
                </a:solidFill>
              </a:rPr>
              <a:t>▶  </a:t>
            </a:r>
            <a:r>
              <a:rPr sz="1800" b="1">
                <a:solidFill>
                  <a:srgbClr val="222A33"/>
                </a:solidFill>
              </a:rPr>
              <a:t>Focus on the West crane</a:t>
            </a:r>
            <a:r>
              <a:rPr sz="1600">
                <a:solidFill>
                  <a:srgbClr val="5D6D7E"/>
                </a:solidFill>
              </a:rPr>
              <a:t> — 14 of 15 failures occur there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8202B"/>
                </a:solidFill>
              </a:rPr>
              <a:t>▶  </a:t>
            </a:r>
            <a:r>
              <a:rPr sz="1800" b="1">
                <a:solidFill>
                  <a:srgbClr val="222A33"/>
                </a:solidFill>
              </a:rPr>
              <a:t>Monitor medium-risk sections monthly</a:t>
            </a:r>
            <a:r>
              <a:rPr sz="1600">
                <a:solidFill>
                  <a:srgbClr val="5D6D7E"/>
                </a:solidFill>
              </a:rPr>
              <a:t> — Prevent escalation to critical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8202B"/>
                </a:solidFill>
              </a:rPr>
              <a:t>▶  </a:t>
            </a:r>
            <a:r>
              <a:rPr sz="1800" b="1">
                <a:solidFill>
                  <a:srgbClr val="222A33"/>
                </a:solidFill>
              </a:rPr>
              <a:t>Retrain model with new data</a:t>
            </a:r>
            <a:r>
              <a:rPr sz="1600">
                <a:solidFill>
                  <a:srgbClr val="5D6D7E"/>
                </a:solidFill>
              </a:rPr>
              <a:t> — Keep forecasts accurate over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-Templet-01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3055"/>
            <a:ext cx="11631083" cy="5698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8584" y="3185346"/>
            <a:ext cx="5903804" cy="48737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2667" b="1" cap="all" dirty="0">
                <a:solidFill>
                  <a:schemeClr val="bg1"/>
                </a:solidFill>
                <a:latin typeface="Verdana"/>
                <a:cs typeface="Verdana"/>
              </a:rPr>
              <a:t>THANK YOU</a:t>
            </a:r>
            <a:endParaRPr lang="en-US" sz="2667" cap="all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296709"/>
            <a:ext cx="444500" cy="264583"/>
          </a:xfrm>
          <a:prstGeom prst="rect">
            <a:avLst/>
          </a:prstGeom>
        </p:spPr>
      </p:pic>
      <p:pic>
        <p:nvPicPr>
          <p:cNvPr id="2" name="Picture 2" descr="C:\Users\15879\Desktop\PMT 2015-16\Photos\Collage\collage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700000">
            <a:off x="5437921" y="1677279"/>
            <a:ext cx="5501588" cy="423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2751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7msXOq47ESrrdcRaZS6tA"/>
</p:tagLst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72501</TotalTime>
  <Words>700</Words>
  <Application>Microsoft Office PowerPoint</Application>
  <PresentationFormat>Widescreen</PresentationFormat>
  <Paragraphs>125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Verdana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Viraj Gandotra</dc:creator>
  <cp:lastModifiedBy>Amit Bind</cp:lastModifiedBy>
  <cp:revision>4464</cp:revision>
  <cp:lastPrinted>2022-10-28T04:33:04Z</cp:lastPrinted>
  <dcterms:created xsi:type="dcterms:W3CDTF">2017-08-02T05:34:31Z</dcterms:created>
  <dcterms:modified xsi:type="dcterms:W3CDTF">2026-06-20T17:56:30Z</dcterms:modified>
</cp:coreProperties>
</file>